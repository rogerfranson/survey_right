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SURVEY RIGHT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BBDEFB"/>
                </a:solidFill>
              </a:defRPr>
            </a:pPr>
            <a:r>
              <a:t>A Complete Survey Data Collection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0CAF9"/>
                </a:solidFill>
              </a:defRPr>
            </a:pPr>
            <a:r>
              <a:t>Web App  |  REST API  |  Mobile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5303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4B5F6"/>
                </a:solidFill>
              </a:defRPr>
            </a:pPr>
            <a:r>
              <a:t>Angular  +  Golang  +  Flutter  +  PostgreSQL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Problem &amp;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029200" cy="438912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62828"/>
                </a:solidFill>
              </a:defRPr>
            </a:pPr>
            <a: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Paper-based surveys are slow and error-prone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Data entry is manual and expensive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No real-time visibility into collection progress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Difficult to enforce validation &amp; skip logic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No offline support for remote areas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645920"/>
            <a:ext cx="5029200" cy="43891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66560" y="182880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7D32"/>
                </a:solidFill>
              </a:defRPr>
            </a:pPr>
            <a:r>
              <a:t>OUR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56032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Web-based drag-and-drop survey builder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Mobile app for digital data collection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Real-time dashboard for monitoring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Built-in validation, skip logic &amp; calculations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Offline-first: works without internet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474720" cy="4572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04FFE"/>
                </a:solidFill>
              </a:defRPr>
            </a:pPr>
            <a:r>
              <a:t>ANGULAR 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57575"/>
                </a:solidFill>
              </a:defRPr>
            </a:pPr>
            <a:r>
              <a:t>Web 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26080"/>
            <a:ext cx="2926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</a:defRPr>
            </a:pPr>
            <a:r>
              <a:t>Survey Builder (SurveyJS)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</a:defRPr>
            </a:pPr>
            <a:r>
              <a:t>Real-time Dashboard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</a:defRPr>
            </a:pPr>
            <a:r>
              <a:t>Data Export (CSV/JSON)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</a:defRPr>
            </a:pPr>
            <a:r>
              <a:t>Survey Key Management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59" y="1645920"/>
            <a:ext cx="3474720" cy="4572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79" y="1828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E7D32"/>
                </a:solidFill>
              </a:defRPr>
            </a:pPr>
            <a:r>
              <a:t>GOLANG 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79" y="2286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57575"/>
                </a:solidFill>
              </a:defRPr>
            </a:pPr>
            <a:r>
              <a:t>REST API + WebSocket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2926080"/>
            <a:ext cx="2926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</a:defRPr>
            </a:pPr>
            <a:r>
              <a:t>Survey CRUD API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</a:defRPr>
            </a:pPr>
            <a:r>
              <a:t>Response Collection API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</a:defRPr>
            </a:pPr>
            <a:r>
              <a:t>Bulk Sync Endpoint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</a:defRPr>
            </a:pPr>
            <a:r>
              <a:t>Live WebSocket Feed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645920"/>
            <a:ext cx="3474720" cy="4572000"/>
          </a:xfrm>
          <a:prstGeom prst="rect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0" y="1828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AD1457"/>
                </a:solidFill>
              </a:defRPr>
            </a:pPr>
            <a:r>
              <a:t>FLUTTER MOBILE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286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57575"/>
                </a:solidFill>
              </a:defRPr>
            </a:pPr>
            <a:r>
              <a:t>Offline-First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926080"/>
            <a:ext cx="2926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</a:defRPr>
            </a:pPr>
            <a:r>
              <a:t>Dynamic Form Renderer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</a:defRPr>
            </a:pPr>
            <a:r>
              <a:t>SQLite Local Storage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</a:defRPr>
            </a:pPr>
            <a:r>
              <a:t>Auto Background Sync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</a:defRPr>
            </a:pPr>
            <a:r>
              <a:t>Survey Key Loading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4754880"/>
            <a:ext cx="5760720" cy="128016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74720" y="48463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65100"/>
                </a:solidFill>
              </a:defRPr>
            </a:pPr>
            <a:r>
              <a:t>POSTGRESQL 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530352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12121"/>
                </a:solidFill>
              </a:defRPr>
            </a:pPr>
            <a:r>
              <a:t>surveys table (JSONB)  |  responses table (JSONB)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Database Design (2-Table Structure)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04FFE"/>
                </a:solidFill>
              </a:defRPr>
            </a:pPr>
            <a:r>
              <a:t>Table: surveys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</a:defRPr>
            </a:pPr>
            <a:r>
              <a:t>Stores survey form definitions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26080"/>
            <a:ext cx="4389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id - UUID Primary Key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refid - Unique survey key (for Flutter)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name - Survey name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secname - Section name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data - JSONB (SurveyJS schema)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created_at / updated_at - Timestamps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645920"/>
            <a:ext cx="5029200" cy="4572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66560" y="18288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7D32"/>
                </a:solidFill>
              </a:defRPr>
            </a:pPr>
            <a:r>
              <a:t>Table: responses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3774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</a:defRPr>
            </a:pPr>
            <a:r>
              <a:t>Stores collected survey responses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926080"/>
            <a:ext cx="4389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id - UUID Primary Key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refid - FK to surveys.refid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name - Respondent identifier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secname - Section name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data - JSONB (response data)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created_at / updated_at - Timestamps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Backend API Endpoints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698480" cy="41148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508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Endpoint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08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Description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1069848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04FFE"/>
                </a:solidFill>
              </a:defRPr>
            </a:pPr>
            <a:r>
              <a:t>POST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965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</a:defRPr>
            </a:pPr>
            <a:r>
              <a:t>/api/surveys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65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</a:defRPr>
            </a:pPr>
            <a:r>
              <a:t>Create a new survey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359152"/>
            <a:ext cx="10698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240487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</a:defRPr>
            </a:pPr>
            <a:r>
              <a:t>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4048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</a:defRPr>
            </a:pPr>
            <a:r>
              <a:t>/api/surveys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4048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</a:defRPr>
            </a:pPr>
            <a:r>
              <a:t>List all surveys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798064"/>
            <a:ext cx="1069848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284378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</a:defRPr>
            </a:pPr>
            <a:r>
              <a:t>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284378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</a:defRPr>
            </a:pPr>
            <a:r>
              <a:t>/api/surveys/:refid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84378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</a:defRPr>
            </a:pPr>
            <a:r>
              <a:t>Get survey by key (used by Flutter)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236976"/>
            <a:ext cx="10698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328269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5100"/>
                </a:solidFill>
              </a:defRPr>
            </a:pPr>
            <a:r>
              <a:t>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328269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</a:defRPr>
            </a:pPr>
            <a:r>
              <a:t>/api/surveys/:id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28269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</a:defRPr>
            </a:pPr>
            <a:r>
              <a:t>Update survey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675887"/>
            <a:ext cx="1069848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3721607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5100"/>
                </a:solidFill>
              </a:defRPr>
            </a:pPr>
            <a:r>
              <a:t>DELETE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3721607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</a:defRPr>
            </a:pPr>
            <a:r>
              <a:t>/api/surveys/:id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721607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</a:defRPr>
            </a:pPr>
            <a:r>
              <a:t>Delete survey + responses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114800"/>
            <a:ext cx="10698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" y="4160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04FFE"/>
                </a:solidFill>
              </a:defRPr>
            </a:pPr>
            <a:r>
              <a:t>POST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4160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</a:defRPr>
            </a:pPr>
            <a:r>
              <a:t>/api/responses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160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</a:defRPr>
            </a:pPr>
            <a:r>
              <a:t>Submit single response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4553712"/>
            <a:ext cx="1069848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459943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04FFE"/>
                </a:solidFill>
              </a:defRPr>
            </a:pPr>
            <a:r>
              <a:t>POST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45994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</a:defRPr>
            </a:pPr>
            <a:r>
              <a:t>/api/responses/bulk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5994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</a:defRPr>
            </a:pPr>
            <a:r>
              <a:t>Bulk sync from mobile app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4992624"/>
            <a:ext cx="10698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4400" y="503834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</a:defRPr>
            </a:pPr>
            <a:r>
              <a:t>GET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86000" y="503834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</a:defRPr>
            </a:pPr>
            <a:r>
              <a:t>/api/responses/:refid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503834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</a:defRPr>
            </a:pPr>
            <a:r>
              <a:t>Get responses for a survey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5431536"/>
            <a:ext cx="1069848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14400" y="547725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</a:defRPr>
            </a:pPr>
            <a:r>
              <a:t>GET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86000" y="547725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</a:defRPr>
            </a:pPr>
            <a:r>
              <a:t>/api/export/:refid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547725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</a:defRPr>
            </a:pPr>
            <a:r>
              <a:t>Export responses as CSV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" y="5870448"/>
            <a:ext cx="10698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14400" y="59161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A1B9A"/>
                </a:solidFill>
              </a:defRPr>
            </a:pPr>
            <a:r>
              <a:t>WS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86000" y="59161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</a:defRPr>
            </a:pPr>
            <a:r>
              <a:t>/ws/dashboard/:refid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59161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</a:defRPr>
            </a:pPr>
            <a:r>
              <a:t>WebSocket live response feed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Web Application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73152" cy="731520"/>
          </a:xfrm>
          <a:prstGeom prst="rect">
            <a:avLst/>
          </a:prstGeom>
          <a:solidFill>
            <a:srgbClr val="304F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12121"/>
                </a:solidFill>
              </a:defRPr>
            </a:pPr>
            <a:r>
              <a:t>Survey Builder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</a:defRPr>
            </a:pPr>
            <a:r>
              <a:t>Drag-and-drop form creation using SurveyJS Creator with all question types, skip logic, validations, repeat groups, and calculations.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468880"/>
            <a:ext cx="73152" cy="731520"/>
          </a:xfrm>
          <a:prstGeom prst="rect">
            <a:avLst/>
          </a:prstGeom>
          <a:solidFill>
            <a:srgbClr val="304F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12121"/>
                </a:solidFill>
              </a:defRPr>
            </a:pPr>
            <a:r>
              <a:t>Survey 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34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</a:defRPr>
            </a:pPr>
            <a:r>
              <a:t>View, edit, delete, preview, and manage all surveys from a central dashboard with card-based UI.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474720"/>
            <a:ext cx="73152" cy="731520"/>
          </a:xfrm>
          <a:prstGeom prst="rect">
            <a:avLst/>
          </a:prstGeom>
          <a:solidFill>
            <a:srgbClr val="304F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3474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12121"/>
                </a:solidFill>
              </a:defRPr>
            </a:pPr>
            <a:r>
              <a:t>Live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</a:defRPr>
            </a:pPr>
            <a:r>
              <a:t>Real-time monitoring of incoming responses via WebSocket. New responses appear with green highlight animation.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480560"/>
            <a:ext cx="73152" cy="731520"/>
          </a:xfrm>
          <a:prstGeom prst="rect">
            <a:avLst/>
          </a:prstGeom>
          <a:solidFill>
            <a:srgbClr val="304F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4480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12121"/>
                </a:solidFill>
              </a:defRPr>
            </a:pPr>
            <a:r>
              <a:t>Survey Preview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</a:defRPr>
            </a:pPr>
            <a:r>
              <a:t>Test surveys before deployment. Full form rendering with all conditions and validations active.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486400"/>
            <a:ext cx="73152" cy="731520"/>
          </a:xfrm>
          <a:prstGeom prst="rect">
            <a:avLst/>
          </a:prstGeom>
          <a:solidFill>
            <a:srgbClr val="304F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5486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12121"/>
                </a:solidFill>
              </a:defRPr>
            </a:pPr>
            <a:r>
              <a:t>Data Export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852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</a:defRPr>
            </a:pPr>
            <a:r>
              <a:t>Export collected responses as CSV or download the survey definition as JSON. Copy survey key for mobile app.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Supported Question Types &amp; Logic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2560320" cy="64008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237E"/>
                </a:solidFill>
              </a:defRPr>
            </a:pPr>
            <a:r>
              <a:t>Text Input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3566160" y="1463040"/>
            <a:ext cx="2560320" cy="64008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749040" y="1600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237E"/>
                </a:solidFill>
              </a:defRPr>
            </a:pPr>
            <a:r>
              <a:t>Number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463040"/>
            <a:ext cx="2560320" cy="64008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1600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237E"/>
                </a:solidFill>
              </a:defRPr>
            </a:pPr>
            <a:r>
              <a:t>Single Choice (Radio)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35440" y="1463040"/>
            <a:ext cx="2560320" cy="64008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0" y="1600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237E"/>
                </a:solidFill>
              </a:defRPr>
            </a:pPr>
            <a:r>
              <a:t>Multiple Choice (Checkbox)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377440"/>
            <a:ext cx="2560320" cy="64008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2514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237E"/>
                </a:solidFill>
              </a:defRPr>
            </a:pPr>
            <a:r>
              <a:t>Dropdown Select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60" y="2377440"/>
            <a:ext cx="2560320" cy="64008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49040" y="2514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237E"/>
                </a:solidFill>
              </a:defRPr>
            </a:pPr>
            <a:r>
              <a:t>Date Picker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377440"/>
            <a:ext cx="2560320" cy="64008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2514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237E"/>
                </a:solidFill>
              </a:defRPr>
            </a:pPr>
            <a:r>
              <a:t>Rating (Stars)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2377440"/>
            <a:ext cx="2560320" cy="64008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18320" y="2514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237E"/>
                </a:solidFill>
              </a:defRPr>
            </a:pPr>
            <a:r>
              <a:t>Boolean (Yes/No)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291840"/>
            <a:ext cx="2560320" cy="64008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34290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237E"/>
                </a:solidFill>
              </a:defRPr>
            </a:pPr>
            <a:r>
              <a:t>Matrix Grid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66160" y="3291840"/>
            <a:ext cx="2560320" cy="64008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749040" y="34290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237E"/>
                </a:solidFill>
              </a:defRPr>
            </a:pPr>
            <a:r>
              <a:t>Comment (Multi-line)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291840"/>
            <a:ext cx="2560320" cy="64008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0" y="34290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237E"/>
                </a:solidFill>
              </a:defRPr>
            </a:pPr>
            <a:r>
              <a:t>Expression (Calculated)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440" y="3291840"/>
            <a:ext cx="2560320" cy="64008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418320" y="34290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237E"/>
                </a:solidFill>
              </a:defRPr>
            </a:pPr>
            <a:r>
              <a:t>Repeat Groups (Panel Dynamic)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12121"/>
                </a:solidFill>
              </a:defRPr>
            </a:pPr>
            <a:r>
              <a:t>Advanced Logic Features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93776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</a:defRPr>
            </a:pPr>
            <a:r>
              <a:t>Skip Logic - Show/hide questions based on previous answers (visibleIf expressions)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</a:defRPr>
            </a:pPr>
            <a:r>
              <a:t>Validation Rules - Required fields, regex patterns, min/max values, custom validators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</a:defRPr>
            </a:pPr>
            <a:r>
              <a:t>Calculations - Auto-computed fields using expression question type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</a:defRPr>
            </a:pPr>
            <a:r>
              <a:t>Repeat Groups - Dynamic panels for collecting multiple entries (e.g., household members)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Flutter Mobile App - Offline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12121"/>
                </a:solidFill>
              </a:defRPr>
            </a:pPr>
            <a:r>
              <a:t>User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1. Enter Survey Key - provided by administrator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2. App fetches survey definition from server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3. Survey form renders dynamically from JSON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4. User fills form and submits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5. Response saved to local SQLite database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6. Background sync uploads when online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12121"/>
                </a:solidFill>
              </a:defRPr>
            </a:pPr>
            <a:r>
              <a:t>Offline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031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SQLite survey_cache table - stores definitions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SQLite response_outbox table - queues responses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Connectivity detection via connectivity_plus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30-second auto-retry sync timer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Sync status: Pending / Synced / Failed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Survey works even without any network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029200"/>
            <a:ext cx="10698480" cy="118872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37E"/>
                </a:solidFill>
              </a:defRPr>
            </a:pPr>
            <a:r>
              <a:t>Tech Stack: Flutter + Provider + sqflite + connectivity_plus + http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577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</a:defRPr>
            </a:pPr>
            <a:r>
              <a:t>Single template app - one APK serves all surveys. No rebuild needed per survey.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End-to-End Data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1737360" cy="32004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237E"/>
                </a:solidFill>
              </a:defRPr>
            </a:pPr>
            <a:r>
              <a:t>1. CREATE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1554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12121"/>
                </a:solidFill>
              </a:defRPr>
            </a:pPr>
            <a:r>
              <a:t>Admin builds survey</a:t>
            </a:r>
            <a:br/>
            <a:r>
              <a:t>in Angular web app</a:t>
            </a:r>
            <a:br/>
            <a:r>
              <a:t>with SurveyJS Creator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0" y="1828800"/>
            <a:ext cx="1737360" cy="32004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468880" y="20116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237E"/>
                </a:solidFill>
              </a:defRPr>
            </a:pPr>
            <a:r>
              <a:t>2. SAVE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651760"/>
            <a:ext cx="1554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12121"/>
                </a:solidFill>
              </a:defRPr>
            </a:pPr>
            <a:r>
              <a:t>Survey definition</a:t>
            </a:r>
            <a:br/>
            <a:r>
              <a:t>stored as JSONB</a:t>
            </a:r>
            <a:br/>
            <a:r>
              <a:t>in PostgreSQL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828800"/>
            <a:ext cx="1737360" cy="32004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0" y="20116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237E"/>
                </a:solidFill>
              </a:defRPr>
            </a:pPr>
            <a:r>
              <a:t>3. 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651760"/>
            <a:ext cx="1554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12121"/>
                </a:solidFill>
              </a:defRPr>
            </a:pPr>
            <a:r>
              <a:t>Survey key shared</a:t>
            </a:r>
            <a:br/>
            <a:r>
              <a:t>with field workers</a:t>
            </a:r>
            <a:br/>
            <a:r>
              <a:t>(copy or QR)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1737360" cy="3200400"/>
          </a:xfrm>
          <a:prstGeom prst="rect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0" y="20116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237E"/>
                </a:solidFill>
              </a:defRPr>
            </a:pPr>
            <a:r>
              <a:t>4. COLLECT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651760"/>
            <a:ext cx="1554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12121"/>
                </a:solidFill>
              </a:defRPr>
            </a:pPr>
            <a:r>
              <a:t>Mobile app loads survey</a:t>
            </a:r>
            <a:br/>
            <a:r>
              <a:t>by key, collects data</a:t>
            </a:r>
            <a:br/>
            <a:r>
              <a:t>offline-first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828800"/>
            <a:ext cx="1737360" cy="320040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0" y="20116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237E"/>
                </a:solidFill>
              </a:defRPr>
            </a:pPr>
            <a:r>
              <a:t>5. SYNC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651760"/>
            <a:ext cx="1554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12121"/>
                </a:solidFill>
              </a:defRPr>
            </a:pPr>
            <a:r>
              <a:t>Responses auto-sync</a:t>
            </a:r>
            <a:br/>
            <a:r>
              <a:t>to backend when</a:t>
            </a:r>
            <a:br/>
            <a:r>
              <a:t>network available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0" y="1828800"/>
            <a:ext cx="1737360" cy="3200400"/>
          </a:xfrm>
          <a:prstGeom prst="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149840" y="20116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237E"/>
                </a:solidFill>
              </a:defRPr>
            </a:pPr>
            <a:r>
              <a:t>6. MONITOR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40" y="2651760"/>
            <a:ext cx="1554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12121"/>
                </a:solidFill>
              </a:defRPr>
            </a:pPr>
            <a:r>
              <a:t>Admin sees responses</a:t>
            </a:r>
            <a:br/>
            <a:r>
              <a:t>in real-time on</a:t>
            </a:r>
            <a:br/>
            <a:r>
              <a:t>live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2926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04FFE"/>
                </a:solidFill>
              </a:defRPr>
            </a:pPr>
            <a:r>
              <a:t>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2926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04FFE"/>
                </a:solidFill>
              </a:defRPr>
            </a:pPr>
            <a:r>
              <a:t>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2926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04FFE"/>
                </a:solidFill>
              </a:defRPr>
            </a:pPr>
            <a:r>
              <a:t>&gt;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2926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04FFE"/>
                </a:solidFill>
              </a:defRPr>
            </a:pPr>
            <a:r>
              <a:t>&gt;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40" y="2926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04FFE"/>
                </a:solidFill>
              </a:defRPr>
            </a:pPr>
            <a:r>
              <a:t>&gt;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698480" cy="1051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91440" cy="1051560"/>
          </a:xfrm>
          <a:prstGeom prst="rect">
            <a:avLst/>
          </a:prstGeom>
          <a:solidFill>
            <a:srgbClr val="DD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D0031"/>
                </a:solidFill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5544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Angular 20 + SurveyJS Creator + Angular Material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59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57575"/>
                </a:solidFill>
              </a:defRPr>
            </a:pPr>
            <a:r>
              <a:t>Drag-and-drop survey builder, responsive UI, lazy-loaded routes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697480"/>
            <a:ext cx="10698480" cy="1051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2697480"/>
            <a:ext cx="91440" cy="1051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2788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</a:defRPr>
            </a:pPr>
            <a: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7889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Golang + Gin Framework + pgx driver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2004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57575"/>
                </a:solidFill>
              </a:defRPr>
            </a:pPr>
            <a:r>
              <a:t>High-performance REST API, WebSocket hub, CSV export, CORS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931920"/>
            <a:ext cx="10698480" cy="1051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3931920"/>
            <a:ext cx="91440" cy="10515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4023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5100"/>
                </a:solidFill>
              </a:defRPr>
            </a:pPr>
            <a:r>
              <a:t>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0233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PostgreSQL 17 with JSONB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44348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57575"/>
                </a:solidFill>
              </a:defRPr>
            </a:pPr>
            <a:r>
              <a:t>2-table schema, flexible JSON storage, full-text indexing capable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166360"/>
            <a:ext cx="10698480" cy="1051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" y="5166360"/>
            <a:ext cx="91440" cy="1051560"/>
          </a:xfrm>
          <a:prstGeom prst="rect">
            <a:avLst/>
          </a:prstGeom>
          <a:solidFill>
            <a:srgbClr val="304F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5257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04FFE"/>
                </a:solidFill>
              </a:defRPr>
            </a:pPr>
            <a:r>
              <a:t>Mobile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52578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Flutter 3.38 + Provider + sqflite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56692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57575"/>
                </a:solidFill>
              </a:defRPr>
            </a:pPr>
            <a:r>
              <a:t>Cross-platform, offline-first, dynamic form rendering, auto-sync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SURVEY RIGHT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BBDEFB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0CAF9"/>
                </a:solidFill>
              </a:defRPr>
            </a:pPr>
            <a:r>
              <a:t>Build surveys on web. Collect data on mobile. Monitor in real-time.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883</Words>
  <Application>Microsoft Office PowerPoint</Application>
  <PresentationFormat>Widescreen</PresentationFormat>
  <Paragraphs>169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Roger Franson</cp:lastModifiedBy>
  <cp:revision>1</cp:revision>
  <dcterms:created xsi:type="dcterms:W3CDTF">2013-01-27T09:14:16Z</dcterms:created>
  <dcterms:modified xsi:type="dcterms:W3CDTF">2026-02-04T11:25:21Z</dcterms:modified>
  <cp:category/>
</cp:coreProperties>
</file>